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d952e26-d310-f059-746d-9f0be32d5c48}">
          <p14:sldIdLst>
            <p14:sldId id="256"/>
            <p14:sldId id="257"/>
            <p14:sldId id="258"/>
          </p14:sldIdLst>
        </p14:section>
        <p14:section name="Method" id="{a22851a8-a217-7d47-d10e-2b731cab8a89}">
          <p14:sldIdLst>
            <p14:sldId id="259"/>
            <p14:sldId id="260"/>
            <p14:sldId id="261"/>
            <p14:sldId id="262"/>
            <p14:sldId id="263"/>
          </p14:sldIdLst>
        </p14:section>
        <p14:section name="Results" id="{c521bedb-9b14-c767-e09c-89d5d1e76723}">
          <p14:sldIdLst>
            <p14:sldId id="264"/>
            <p14:sldId id="265"/>
            <p14:sldId id="266"/>
          </p14:sldIdLst>
        </p14:section>
        <p14:section name="Demonstration" id="{0abaac5a-be53-ead0-f5ea-04768e627a34}">
          <p14:sldIdLst>
            <p14:sldId id="267"/>
            <p14:sldId id="268"/>
          </p14:sldIdLst>
        </p14:section>
        <p14:section name="Conclusion" id="{8f4bc33e-3040-1217-227a-faa691f43edb}">
          <p14:sldIdLst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Calibri"/>
              </a:rPr>
              <a:t>Label distribution (cleaned pairs)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Pairs</c:v>
                </c:pt>
              </c:strCache>
            </c:strRef>
          </c:tx>
          <c:spPr>
            <a:solidFill>
              <a:srgbClr val="2B3A6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No Fit</c:v>
                  </c:pt>
                  <c:pt idx="1">
                    <c:v>Potential Fit</c:v>
                  </c:pt>
                  <c:pt idx="2">
                    <c:v>Good Fit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3993</c:v>
                </c:pt>
                <c:pt idx="1">
                  <c:v>1998</c:v>
                </c:pt>
                <c:pt idx="2">
                  <c:v>1996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4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5F6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5F6B"/>
                    </a:solidFill>
                    <a:latin typeface="Calibri"/>
                  </a:rPr>
                  <a:t>Pairs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Calibri"/>
              </a:rPr>
              <a:t>Frozen weights (selected on validation)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1BAF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Semantic similarity</c:v>
                  </c:pt>
                  <c:pt idx="1">
                    <c:v>Required skill coverage</c:v>
                  </c:pt>
                  <c:pt idx="2">
                    <c:v>Preferred skill coverage</c:v>
                  </c:pt>
                  <c:pt idx="3">
                    <c:v>Experience match</c:v>
                  </c:pt>
                  <c:pt idx="4">
                    <c:v>Responsibility alignment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</c:v>
                </c:pt>
                <c:pt idx="1">
                  <c:v>0.15</c:v>
                </c:pt>
                <c:pt idx="2">
                  <c:v>0.05</c:v>
                </c:pt>
                <c:pt idx="3">
                  <c:v>0.1</c:v>
                </c:pt>
                <c:pt idx="4">
                  <c:v>0.1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b"/>
        <c:majorGridlines>
          <c:spPr>
            <a:ln w="6350" cap="flat">
              <a:solidFill>
                <a:srgbClr val="E4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5F6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5F6B"/>
                    </a:solidFill>
                    <a:latin typeface="Calibri"/>
                  </a:rPr>
                  <a:t>Weight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Calibri"/>
              </a:rPr>
              <a:t>Ranking quality: NDCG@10 (test, 157 jobs)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898781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9878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Random ordering</c:v>
                  </c:pt>
                  <c:pt idx="1">
                    <c:v>TF-IDF</c:v>
                  </c:pt>
                  <c:pt idx="2">
                    <c:v>BGE semantic</c:v>
                  </c:pt>
                  <c:pt idx="3">
                    <c:v>Skill-Aware Hybrid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0.758163</c:v>
                </c:pt>
                <c:pt idx="1">
                  <c:v>0.794462</c:v>
                </c:pt>
                <c:pt idx="2">
                  <c:v>0.823101</c:v>
                </c:pt>
                <c:pt idx="3">
                  <c:v>0.841898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6"/>
          <c:min val="0.7"/>
        </c:scaling>
        <c:delete val="0"/>
        <c:axPos val="l"/>
        <c:majorGridlines>
          <c:spPr>
            <a:ln w="6350" cap="flat">
              <a:solidFill>
                <a:srgbClr val="E4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5F6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5F6B"/>
                    </a:solidFill>
                    <a:latin typeface="Calibri"/>
                  </a:rPr>
                  <a:t>NDCG@10 (0–1)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Calibri"/>
              </a:rPr>
              <a:t>Ablation: mean NDCG@10 over 5 repeated splits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NDCG@10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B3A67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Semantic only</c:v>
                  </c:pt>
                  <c:pt idx="1">
                    <c:v>+ Required</c:v>
                  </c:pt>
                  <c:pt idx="2">
                    <c:v>+ Preferred</c:v>
                  </c:pt>
                  <c:pt idx="3">
                    <c:v>+ Experience</c:v>
                  </c:pt>
                  <c:pt idx="4">
                    <c:v>+ Responsib.</c:v>
                  </c:pt>
                  <c:pt idx="5">
                    <c:v>Final hybrid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0.832422</c:v>
                </c:pt>
                <c:pt idx="1">
                  <c:v>0.825137</c:v>
                </c:pt>
                <c:pt idx="2">
                  <c:v>0.82646</c:v>
                </c:pt>
                <c:pt idx="3">
                  <c:v>0.834994</c:v>
                </c:pt>
                <c:pt idx="4">
                  <c:v>0.835181</c:v>
                </c:pt>
                <c:pt idx="5">
                  <c:v>0.842549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5"/>
          <c:min val="0.81"/>
        </c:scaling>
        <c:delete val="0"/>
        <c:axPos val="l"/>
        <c:majorGridlines>
          <c:spPr>
            <a:ln w="6350" cap="flat">
              <a:solidFill>
                <a:srgbClr val="E4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5F6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5F6B"/>
                    </a:solidFill>
                    <a:latin typeface="Calibri"/>
                  </a:rPr>
                  <a:t>NDCG@10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0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433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1F2433"/>
                </a:solidFill>
                <a:latin typeface="Calibri"/>
              </a:rPr>
              <a:t>Top-1 outcome per test job (154 jobs)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Jobs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433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78D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BAF7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EB683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9878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TF-IDF right, BGE wrong</c:v>
                  </c:pt>
                  <c:pt idx="1">
                    <c:v>BGE right, TF-IDF wrong</c:v>
                  </c:pt>
                  <c:pt idx="2">
                    <c:v>Hybrid right, BGE wrong</c:v>
                  </c:pt>
                  <c:pt idx="3">
                    <c:v>BGE right, Hybrid wrong</c:v>
                  </c:pt>
                  <c:pt idx="4">
                    <c:v>All three wrong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</c:v>
                </c:pt>
                <c:pt idx="1">
                  <c:v>25</c:v>
                </c:pt>
                <c:pt idx="2">
                  <c:v>14</c:v>
                </c:pt>
                <c:pt idx="3">
                  <c:v>6</c:v>
                </c:pt>
                <c:pt idx="4">
                  <c:v>30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F2433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b"/>
        <c:majorGridlines>
          <c:spPr>
            <a:ln w="6350" cap="flat">
              <a:solidFill>
                <a:srgbClr val="E4E5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5F6B"/>
                    </a:solidFill>
                    <a:latin typeface="Calibri"/>
                  </a:defRPr>
                </a:pPr>
                <a:r>
                  <a:rPr sz="1100" b="0" i="0" u="none" strike="noStrike">
                    <a:solidFill>
                      <a:srgbClr val="5B5F6B"/>
                    </a:solidFill>
                    <a:latin typeface="Calibri"/>
                  </a:rPr>
                  <a:t>Jobs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F6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research question, not the tool: can explicit requirement-aware features improve on lexical and semantic matching, and can the result be explained? Fill in the name / roll number / course placeholders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in one sentence: lexical similarity misses meaning, semantic similarity misses requirements. The AWS example is an illustration, not a result. Viva: 'why not just use BGE?' — because one embedding per document cannot say which mandatory requirement is missing, and the evaluation later shows explicit features add ranking signal on top of BGE.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map to the rubric: problem formulation (RQ), algorithms (2), comparison (3), demo (4). Note the hypotheses were stated before results; the outcome is answered honestly on the conclusion slide (supported for ranking, not for classification).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pipeline, three models. Everything learned is learned on train (TF-IDF vocabulary) or validation (hybrid weights, scaling bounds, classification thresholds); test is scored once. The application never re-runs experiments; it serves the frozen models and reads committed result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point: only 643 resumes and 351 jobs generate 7,987 pairs, so each resume appears in many pairs — which is exactly why splitting by row would leak. Labels are No / Potential / Good Fit; for NDCG they are graded 0/1/2. Ranking unit = one job and its candidates in the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it matters: with 476 of 477 test resumes already in training, any score on the original test split mostly measures memorisation of seen resumes. Jobs DO repeat across our splits by design: the realistic task is ranking unseen candidates for a known job. Professor question 'is job overlap leakage?' — no, we split by candidate; anything learned (TF-IDF vocabulary, weights, thresholds) never sees test resumes.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TF-IDF: term frequency × inverse document frequency; cosine of L2-normalised vectors = dot product. BGE: transformer encoder trained contrastively; cosine of [CLS] embeddings; no query instruction because both sides are long documents (per model card). BGE reads 512 tokens, so about 58–60% of resume text (validation/test) is never seen — validation chose truncate (0.8114) over chunk-mean (0.8083) by a rule fixed in advance. Hybrid: components that cannot be measured are left out and the remaining weights renormalised.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student-designed contribution for this project — not claimed as a novel research algorithm (hybrid scoring and skill matching are established ideas). Weights were picked on validation only from 6 pre-declared configurations; the semantic-heavy set won. Required skills always weighted above preferred. Viva: 'why 0.60 on semantic?' — it was the best of the pre-declared sets on validation, which itself tells us explicit features are complementary, not a replacement.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matters: all approaches are scored on the same 1,191 pairs and 157 rankable jobs with the same metric code, so the comparison is fair. NDCG@10 rewards putting Good/Potential candidates near the top; macro F1 is a post-hoc conversion of scores into three classes using thresholds learned on validation — a different objective. Accuracy is not used as the headline because always predicting 'No Fit' scores 0.5441 accuracy on test. Corrected vs Phase 5 hybrid: a general parser fix for requirement words glued to the next word ('RequiredSQL') changed results only marginally (0.8459 → 0.8419); we report the corrected, served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this matters: the original split gave mixed evidence (test favoured the hybrid, validation did not). Re-running the WHOLE method on 5 independent grouped splits — TF-IDF refitted, hybrid weights and all thresholds re-selected on each split's validation — the hybrid beats BGE in every split. The effect is small (+0.0104 NDCG@10) but the 95% interval excludes zero. Note: in split 5 TF-IDF beats both. Viva: the repeated-split hybrid re-selects its weighting per split (experience-heavy ×3, semantic-heavy, skill-heavy), so this tests the method, not the fixed 0.60 weights. CI method: resample jobs (not candidate rows) within each split, average over splits; no multiple-comparison correction.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interpretation: features are not individually guaranteed to help ranking. Required-skill coverage on its own lowers NDCG@10 in every view (validation, test, repeated) — its value is explanatory. The final validation-selected weighting is what improves ranking. Error analysis examples were chosen by a rule fixed in advance (first 3 jobs per category by job id), not by which model won. Why it matters: it shows WHERE the hybrid helps (missing mandatory skills) and that a fifth of jobs remain unsolved by any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to narrate: on a real test job with 15 candidates (documented in docs/algorithms.md, Phase 5 hybrid), BGE ranked a No-Fit candidate first; it was missing the required skill 'Agile' (job sentence: 'Must have experience working in an Agile environment'). The hybrid moved it from #1 to #4 and moved a Good-Fit candidate who had Agile from #3 to #1. Caveat to volunteer: faithfulness ≠ correctness — e.g. 'Tableau or Power BI' marks both as required, and a degree field like 'Statistics' can be read as a skill.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 plan (≈2 min): Match Analysis → Load Demo → Analyze Match (hybrid: 4 of 7 required skills; missing AWS, Data Analysis, Power BI) → Compare Models → Research page. Start the backend first: uvicorn backend.app.main:app --port 8000 (models load in ~10–30 s), then npm --prefix frontend run dev. The comparison ranks models by 'percentile within model validation scores' because raw scores are on different scales (TF-IDF ≈ 0.16 vs BGE ≈ 0.81 for the same pair).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say 'the hybrid is the best model'. Say: best mean ranking in repeated splits by a small, statistically detectable margin; BGE keeps the best classification F1; on the original validation split the hybrid did not beat BGE. Future-work items are proposals, not results — none were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Rubric map (internal):
Problem formulation / originality → slides 2, 3
AI concepts / algorithm implementation → slides 4, 7, 8
Comparison of AI approaches → slides 9, 10
Dataset / environment / experimentation → slides 5, 6, 10
Evaluation / interpretation → slides 9, 10, 11, 14
Student improvement / innovation → slides 8, 11, 12
Working application / demo → slides 12, 13 (+ live demo)
Viva → this slide + speaker notes; docs/PRESENTATION_NOTES.md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5F6B"/>
                </a:solidFill>
              </a:rPr>
              <a:t>Explainable AI-Based Resume–Job Matching · AI Lab project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B3A6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55448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AI-Based Resume–Job Matching Using Semantic and Skill-Aware Ranking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BGE semantic embeddings · student-designed Skill-Aware Hybrid, evaluated on leakage-safe resume-grouped splits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5720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[Student name] · [Roll number]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[Course] · AI Lab Project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[Faculty supervisor] · [Department, Institute]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60350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research prototype — not for use as the sole basis of employment decisions.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similarity is not the same as fit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matching (TF-IDF)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shared words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“REST APIs in Flask” ≠ “backend services” — synonyms get no credit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notion of required vs optional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32588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60020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matching (BGE)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4884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meaning of whole documents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resume can be “about” the job yet miss a mandatory skill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vector per document: no evidence of what is missing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046720" y="132588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0" y="160020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732520" y="155448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recruiter needs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4884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required skills present?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experience sufficient?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candidate done similar duties?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the candidate score this way?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D9DBE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709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Illustration (not a result)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0749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requires: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286000" y="507492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E8F4EC"/>
          </a:solidFill>
          <a:ln w="12700">
            <a:solidFill>
              <a:srgbClr val="146C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286000" y="5074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Python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703320" y="507492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E8F4EC"/>
          </a:solidFill>
          <a:ln w="12700">
            <a:solidFill>
              <a:srgbClr val="146C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03320" y="5074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6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PyTorch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120640" y="5074920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DECEA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5074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AWS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937760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has Python and PyTorch. Semantic similarity can still be high — the missing AWS requirement is invisible to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question and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2B3A67"/>
          </a:solidFill>
          <a:ln w="9525">
            <a:solidFill>
              <a:srgbClr val="2B3A6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41732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combining semantic similarity with explicit skill coverage, experience compatibility and responsibility alignment improve resume–job matching compared with TF-IDF and pure semantic matching?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F3F4F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834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leakage-safe dataset  </a:t>
            </a:r>
            <a:pPr indent="0" marL="0">
              <a:buNone/>
            </a:pPr>
            <a:r>
              <a:rPr lang="en-US" sz="16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resume-grouped train / validation / test splits; detect and reject the leaky original split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657600"/>
            <a:ext cx="457200" cy="457200"/>
          </a:xfrm>
          <a:prstGeom prst="ellipse">
            <a:avLst/>
          </a:prstGeom>
          <a:solidFill>
            <a:srgbClr val="F3F4F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6118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three approaches  </a:t>
            </a:r>
            <a:pPr indent="0" marL="0">
              <a:buNone/>
            </a:pPr>
            <a:r>
              <a:rPr lang="en-US" sz="16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baseline, BGE semantic baseline, Skill-Aware Hybrid (student-designed)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F3F4F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389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them fairly  </a:t>
            </a:r>
            <a:pPr indent="0" marL="0">
              <a:buNone/>
            </a:pPr>
            <a:r>
              <a:rPr lang="en-US" sz="16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pairs and jobs, ranking metrics first (NDCG, MRR, MAP), classification second; ablation; repeated splits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5212080"/>
            <a:ext cx="457200" cy="457200"/>
          </a:xfrm>
          <a:prstGeom prst="ellipse">
            <a:avLst/>
          </a:prstGeom>
          <a:solidFill>
            <a:srgbClr val="F3F4F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212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16636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and demonstrate  </a:t>
            </a:r>
            <a:pPr indent="0" marL="0">
              <a:buNone/>
            </a:pPr>
            <a:r>
              <a:rPr lang="en-US" sz="16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faithful, evidence-based explanations served through a FastAPI + React application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H0: </a:t>
            </a:r>
            <a:pPr indent="0" marL="0">
              <a:buNone/>
            </a:pPr>
            <a:r>
              <a:rPr lang="en-US" sz="14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does not improve on semantic matching.   </a:t>
            </a:r>
            <a:pPr indent="0" marL="0">
              <a:buNone/>
            </a:pPr>
            <a:r>
              <a:rPr lang="en-US" sz="14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</a:t>
            </a:r>
            <a:pPr indent="0" marL="0">
              <a:buNone/>
            </a:pPr>
            <a:r>
              <a:rPr lang="en-US" sz="14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does, because it models requirements explicitly.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719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HF resume–job fit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revision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984248" y="2157984"/>
            <a:ext cx="146304" cy="201168"/>
          </a:xfrm>
          <a:prstGeom prst="rightArrow">
            <a:avLst/>
          </a:prstGeom>
          <a:solidFill>
            <a:srgbClr val="898781"/>
          </a:solidFill>
          <a:ln w="12700">
            <a:solidFill>
              <a:srgbClr val="8987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148840" y="160020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40280" y="1719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+ group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240280" y="2148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dedupe, labels,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groups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584448" y="2157984"/>
            <a:ext cx="146304" cy="201168"/>
          </a:xfrm>
          <a:prstGeom prst="rightArrow">
            <a:avLst/>
          </a:prstGeom>
          <a:solidFill>
            <a:srgbClr val="898781"/>
          </a:solidFill>
          <a:ln w="12700">
            <a:solidFill>
              <a:srgbClr val="8987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49040" y="160020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840480" y="1719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split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148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resume overlap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84648" y="2157984"/>
            <a:ext cx="146304" cy="201168"/>
          </a:xfrm>
          <a:prstGeom prst="rightArrow">
            <a:avLst/>
          </a:prstGeom>
          <a:solidFill>
            <a:srgbClr val="898781"/>
          </a:solidFill>
          <a:ln w="12700">
            <a:solidFill>
              <a:srgbClr val="8987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49240" y="160020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2B3A67"/>
          </a:solidFill>
          <a:ln w="9525">
            <a:solidFill>
              <a:srgbClr val="2B3A6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40680" y="1719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40680" y="2148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· BGE 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Skill-Aware Hybrid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84848" y="2157984"/>
            <a:ext cx="146304" cy="201168"/>
          </a:xfrm>
          <a:prstGeom prst="rightArrow">
            <a:avLst/>
          </a:prstGeom>
          <a:solidFill>
            <a:srgbClr val="898781"/>
          </a:solidFill>
          <a:ln w="12700">
            <a:solidFill>
              <a:srgbClr val="8987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0" y="160020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40880" y="1719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2148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+ classif.,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ablation, 5 splits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385048" y="2157984"/>
            <a:ext cx="146304" cy="201168"/>
          </a:xfrm>
          <a:prstGeom prst="rightArrow">
            <a:avLst/>
          </a:prstGeom>
          <a:solidFill>
            <a:srgbClr val="898781"/>
          </a:solidFill>
          <a:ln w="12700">
            <a:solidFill>
              <a:srgbClr val="89878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549640" y="160020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41080" y="1719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2148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frozen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+ results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985248" y="2157984"/>
            <a:ext cx="146304" cy="201168"/>
          </a:xfrm>
          <a:prstGeom prst="rightArrow">
            <a:avLst/>
          </a:prstGeom>
          <a:solidFill>
            <a:srgbClr val="898781"/>
          </a:solidFill>
          <a:ln w="12700">
            <a:solidFill>
              <a:srgbClr val="89878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49840" y="1600200"/>
            <a:ext cx="1417320" cy="1325880"/>
          </a:xfrm>
          <a:prstGeom prst="roundRect">
            <a:avLst>
              <a:gd name="adj" fmla="val 5517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241280" y="1719072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0241280" y="214884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match, compare,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pages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2286000" y="34290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pandas · scikit-learn (TF-IDF) · sentence-transformers (BGE) · rule-based feature extraction (no LLM)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48640" y="4096512"/>
            <a:ext cx="11064240" cy="0"/>
          </a:xfrm>
          <a:prstGeom prst="line">
            <a:avLst/>
          </a:prstGeom>
          <a:noFill/>
          <a:ln w="9525">
            <a:solidFill>
              <a:srgbClr val="D9DBE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864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2286000" y="420624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NDCG@5/10, MRR, MAP, P@k; macro F1 via validation thresholds; job-level bootstrap; leakage, privacy and explainability checks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8640" y="4873752"/>
            <a:ext cx="11064240" cy="0"/>
          </a:xfrm>
          <a:prstGeom prst="line">
            <a:avLst/>
          </a:prstGeom>
          <a:noFill/>
          <a:ln w="9525">
            <a:solidFill>
              <a:srgbClr val="D9DBE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4983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2286000" y="498348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(BGE loaded once, shared by semantic + hybrid) · React + TypeScript + Recharts frontend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and experimental design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resume–job pairs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37560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371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7,987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 after cleaning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26480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71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643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resumes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915400" y="132588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98280" y="13716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351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098280" y="21031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jobs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2788920"/>
          <a:ext cx="512064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6126480" y="2834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Leakage-safe resume-grouped split (seed 42)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126480" y="3291840"/>
            <a:ext cx="3766879" cy="685800"/>
          </a:xfrm>
          <a:prstGeom prst="rect">
            <a:avLst/>
          </a:prstGeom>
          <a:solidFill>
            <a:srgbClr val="2B3A67"/>
          </a:solidFill>
          <a:ln w="12700">
            <a:solidFill>
              <a:srgbClr val="2B3A6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199632" y="3310128"/>
            <a:ext cx="37120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5,537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929935" y="3291840"/>
            <a:ext cx="828252" cy="685800"/>
          </a:xfrm>
          <a:prstGeom prst="rect">
            <a:avLst/>
          </a:prstGeom>
          <a:solidFill>
            <a:srgbClr val="6E7BA8"/>
          </a:solidFill>
          <a:ln w="12700">
            <a:solidFill>
              <a:srgbClr val="6E7BA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03087" y="331012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1,259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794763" y="3291840"/>
            <a:ext cx="781541" cy="685800"/>
          </a:xfrm>
          <a:prstGeom prst="rect">
            <a:avLst/>
          </a:prstGeom>
          <a:solidFill>
            <a:srgbClr val="A9B2D0"/>
          </a:solidFill>
          <a:ln w="12700">
            <a:solidFill>
              <a:srgbClr val="A9B2D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867915" y="3310128"/>
            <a:ext cx="822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1,191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126480" y="4206240"/>
            <a:ext cx="5486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1 exact duplicate and 12 conflicting-label rows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643 resumes → 593 groups: 50 near-duplicates merged (TF-IDF cosine ≥ 0.9)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groups go to one split; test has 157 jobs usable for ranking (≥ 2 candidates, ≥ 2 labels)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results/dataset_stats.json · dataset cnamuangtoun/resume-job-description-fit (pinned revision 08978e2)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finding: the original split leaks resumes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FDECEA"/>
          </a:solidFill>
          <a:ln w="9525">
            <a:solidFill>
              <a:srgbClr val="FDEC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dataset split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965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476 of 477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880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test resumes also appear in the original training data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4754880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3611880"/>
            <a:ext cx="4744895" cy="292608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3977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99.79% of test resumes leaked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48056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can be “tested” on resumes it has already seen → optimistic, invalid evaluation. This split was rejected.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1325880"/>
            <a:ext cx="5394960" cy="4526280"/>
          </a:xfrm>
          <a:prstGeom prst="roundRect">
            <a:avLst>
              <a:gd name="adj" fmla="val 1616"/>
            </a:avLst>
          </a:prstGeom>
          <a:solidFill>
            <a:srgbClr val="E8F4EC"/>
          </a:solidFill>
          <a:ln w="9525">
            <a:solidFill>
              <a:srgbClr val="E8F4E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37960" y="15087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6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methodology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6596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identity = hash of normalised text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resumes merged into groups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group: a resume is in exactly one of train / validation / test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check: 0 overlapping resume IDs, groups and normalised texts across all splits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evaluation: 5 more grouped splits, all leakage-free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52120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6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check: PASS (original split and all repeated splits)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results/original_split_leakage.json, results/dataset_stats.json, results/repeated_grouped_meta.json (ml/evaluation/leakage_check.py)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AI approaches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600200"/>
            <a:ext cx="292608" cy="29260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1536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TF-IDF + cosine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lexical baseline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2468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= cos(TF-IDF(r), TF-IDF(j))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918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Unigrams + bigrams, sublinear TF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and IDF fitted on train only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tokens like c++, c#, node.js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3258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600200"/>
            <a:ext cx="292608" cy="29260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536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BGE semantic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baseline (zero-shot)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46888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2468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= cos(E(r), E(j))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0" y="32918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BAAI/bge-base-en-v1.5, revision a5beb1e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768-d normalised embeddings, no fine-tuning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512 tokens (truncate chosen over chunk-averaging on validation)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0" y="1325880"/>
            <a:ext cx="3520440" cy="3611880"/>
          </a:xfrm>
          <a:prstGeom prst="roundRect">
            <a:avLst>
              <a:gd name="adj" fmla="val 2078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1600200"/>
            <a:ext cx="292608" cy="292608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732520" y="153619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Skill-Aware Hybrid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057400"/>
            <a:ext cx="3063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Student-designed improvement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21040" y="2468880"/>
            <a:ext cx="2971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66760" y="246888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B3A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= Σ wᵢ·fᵢ / Σ wᵢ (available fᵢ)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8321040" y="3291840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semantic similarity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required / preferred skill coverage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experience match + responsibility alignment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protocol for all three: identical pairs and jobs, same metric code; everything learned comes from train or validation, and test is scored once.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 ml/models/tfidf.py, ml/models/semantic.py, ml/models/hybrid.py · configs: experiments/config/*.json · scores are similarities, not probabilities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Student-designed improvement: Skill-Aware Hybrid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4800600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2B3A67"/>
          </a:solidFill>
          <a:ln w="9525">
            <a:solidFill>
              <a:srgbClr val="2B3A6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486460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= Σ wᵢ · fᵢ  /  Σ wᵢ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536752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the measurable components fᵢ ∈ [0, 1]  →  score ∈ [0, 1]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675120" y="1371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/ preferred skills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675120" y="17190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178-skill taxonomy with aliases (ReactJS→React); status from sentence cues (“must have”, “a plus”) and section headings; evidence sentence kept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2514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match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675120" y="28620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min(1, candidate years ÷ required years); years from employment date ranges, overlaps merged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75120" y="3657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alignment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675120" y="40050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job duty matched to its most similar experience sentence (BGE), averaged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480060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≠ zero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675120" y="5148072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job states no years or no required skills, that term is left out, not scored 0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config/matching_weights_parserfix.json — best validation NDCG@10 (0.8093) of 6 weight sets declared before any result; deterministic extraction, no LLM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on the leakage-safe held-out test split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475488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577840" y="1371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(primary)</a:t>
            </a:r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vs    </a:t>
            </a:r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(secondary)</a:t>
            </a:r>
            <a:endParaRPr lang="en-US" sz="1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783080"/>
          <a:ext cx="60350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68680"/>
                <a:gridCol w="868680"/>
                <a:gridCol w="822960"/>
                <a:gridCol w="82296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NDCG@5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ordering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0.7141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0.3938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 semantic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0.7653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0.7870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0.7531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Skill-Aware 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0.7803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0.4385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577840" y="3977640"/>
            <a:ext cx="6035040" cy="1097280"/>
          </a:xfrm>
          <a:prstGeom prst="roundRect">
            <a:avLst>
              <a:gd name="adj" fmla="val 6667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760720" y="4087368"/>
            <a:ext cx="5715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+0.0188 NDCG@10 over BGE; BGE +0.0286 over TF-IDF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on the validation split the hybrid (0.8093) did not beat BGE (0.8114) → one split is not enough (next slide)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results/final_model_comparison.csv · served hybrid = corrected parser (Phase 6); the earlier Phase 5 hybrid scored NDCG@10 0.8459 on the same test split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Robustness: 5 independent resume-grouped splits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NDCG@10 on each held-out test split (re-fitted / re-selected per split)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309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51560"/>
                <a:gridCol w="1051560"/>
                <a:gridCol w="1051560"/>
                <a:gridCol w="1051560"/>
                <a:gridCol w="13716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− BGE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6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0.8073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6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+0.0228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6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+0.0074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0.7776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6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+0.0048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6C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± 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0.0077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0.0127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0.0238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 0.0217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6280"/>
          <a:ext cx="6309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691640"/>
                <a:gridCol w="1691640"/>
                <a:gridCol w="173736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 ± SD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B3A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0.7888 ± 0.0152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0.7499 ± 0.0201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0.4052 ± 0.0098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0.8065 ± 0.0274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0.7709 ± 0.0323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0.4122 ± 0.0142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0.8237 ± 0.0254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0.7831 ± 0.0286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4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0.4062 ± 0.0234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B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2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223760" y="132588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8F4EC"/>
          </a:solidFill>
          <a:ln w="9525">
            <a:solidFill>
              <a:srgbClr val="E8F4EC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452360" y="14356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6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− BGE · NDCG@10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7452360" y="17373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+0.0104</a:t>
            </a:r>
            <a:endParaRPr lang="en-US" sz="3200" dirty="0"/>
          </a:p>
        </p:txBody>
      </p:sp>
      <p:sp>
        <p:nvSpPr>
          <p:cNvPr id="9" name="Text 5"/>
          <p:cNvSpPr txBox="1"/>
          <p:nvPr/>
        </p:nvSpPr>
        <p:spPr>
          <a:xfrm>
            <a:off x="9235440" y="17830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[+0.0017, +0.0194]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 5 of 5 splits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223760" y="2926080"/>
            <a:ext cx="4389120" cy="1417320"/>
          </a:xfrm>
          <a:prstGeom prst="roundRect">
            <a:avLst>
              <a:gd name="adj" fmla="val 5161"/>
            </a:avLst>
          </a:prstGeom>
          <a:solidFill>
            <a:srgbClr val="E8F4EC"/>
          </a:solidFill>
          <a:ln w="9525">
            <a:solidFill>
              <a:srgbClr val="E8F4E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452360" y="303580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6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− BGE · MRR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452360" y="333756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6C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+0.0172</a:t>
            </a:r>
            <a:endParaRPr lang="en-US" sz="3200" dirty="0"/>
          </a:p>
        </p:txBody>
      </p:sp>
      <p:sp>
        <p:nvSpPr>
          <p:cNvPr id="13" name="Text 9"/>
          <p:cNvSpPr txBox="1"/>
          <p:nvPr/>
        </p:nvSpPr>
        <p:spPr>
          <a:xfrm>
            <a:off x="9235440" y="3383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CI [+0.0009, +0.0338]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 5 of 5 splits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223760" y="4526280"/>
            <a:ext cx="4389120" cy="1353312"/>
          </a:xfrm>
          <a:prstGeom prst="roundRect">
            <a:avLst>
              <a:gd name="adj" fmla="val 5405"/>
            </a:avLst>
          </a:prstGeom>
          <a:solidFill>
            <a:srgbClr val="FBF3E2"/>
          </a:solidFill>
          <a:ln w="9525">
            <a:solidFill>
              <a:srgbClr val="FBF3E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406640" y="461772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is different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has the best mean macro F1 (0.4122); the hybrid's is 0.4062. The hybrid's advantage is in ranking only.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results/repeated_grouped_*.csv · 20 stratified grouped folds, disjoint test sets, 809 test-job units · CI: job-level bootstrap within each split (10,000 resamples)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 and error analysis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25880"/>
          <a:ext cx="58521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4892040"/>
            <a:ext cx="5852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required skills alone lowers ranking (−0.0073); preferred skills too (−0.0060)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/ responsibilities add little (+0.0026, +0.0028); the validation-selected combination is best (+0.0101)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Required-skill coverage still matters for the explanation (missing requirements)</a:t>
            </a:r>
            <a:endParaRPr lang="en-US" sz="1300" dirty="0"/>
          </a:p>
        </p:txBody>
      </p:sp>
      <p:graphicFrame>
        <p:nvGraphicFramePr>
          <p:cNvPr id="5" name="Chart 1" descr=""/>
          <p:cNvGraphicFramePr/>
          <p:nvPr/>
        </p:nvGraphicFramePr>
        <p:xfrm>
          <a:off x="6675120" y="1325880"/>
          <a:ext cx="493776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675120" y="489204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fixes 14 BGE errors, introduces 6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13 of 14 fixes, BGE's top pick was semantically similar but missed a required skill</a:t>
            </a:r>
            <a:endParaRPr lang="en-US" sz="13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19.5% of jobs: all models wrong — limits of features and labels</a:t>
            </a:r>
            <a:endParaRPr lang="en-US" sz="13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results/final_ablation.csv (repeated splits; stages B–E use the initial weights restricted to those parts) · results/error_analysis_summary.csv (original test, Phase 5 hybrid, top-1 relevant = success)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Explainable matching: why a candidate scored this way</a:t>
            </a:r>
            <a:endParaRPr lang="en-US" sz="3200" dirty="0"/>
          </a:p>
        </p:txBody>
      </p:sp>
      <p:pic>
        <p:nvPicPr>
          <p:cNvPr id="3" name="Image 0" descr="Screenshot of the application's hybrid explanation: missing required skills, matched skills, experience and responsibility eviden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325880"/>
            <a:ext cx="6309360" cy="37113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03520" y="511042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Screenshot: served hybrid on the synthetic demo pair (real API output)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258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explanation contains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/ missing required and preferred skills, with the source sentence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experience, required years and gap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Best-matching duty ↔ experience sentence pairs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component's value and weight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3977640"/>
            <a:ext cx="4480560" cy="1691640"/>
          </a:xfrm>
          <a:prstGeom prst="roundRect">
            <a:avLst>
              <a:gd name="adj" fmla="val 4324"/>
            </a:avLst>
          </a:prstGeom>
          <a:solidFill>
            <a:srgbClr val="E8F4EC"/>
          </a:solidFill>
          <a:ln w="9525">
            <a:solidFill>
              <a:srgbClr val="E8F4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087368"/>
            <a:ext cx="41148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46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check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checks × 1,191 real test pairs: all passed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skills truly absent, gaps correct, evidence present in the text, score recomposes from weights. Shows explanations are faithful to the model — not that extraction is always right.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results/hybrid_explainability_check.json (run on the Phase 5 frozen hybrid; same explanation code as the served model) · demo resume/job are synthetic fixtures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application</a:t>
            </a:r>
            <a:endParaRPr lang="en-US" sz="3200" dirty="0"/>
          </a:p>
        </p:txBody>
      </p:sp>
      <p:pic>
        <p:nvPicPr>
          <p:cNvPr id="3" name="Image 0" descr="Screenshot: hybrid match result with score, category and component b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846320" cy="3005104"/>
          </a:xfrm>
          <a:prstGeom prst="rect">
            <a:avLst/>
          </a:prstGeom>
        </p:spPr>
      </p:pic>
      <p:pic>
        <p:nvPicPr>
          <p:cNvPr id="4" name="Image 1" descr="Screenshot: model comparison table and percentile cha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1325880"/>
            <a:ext cx="5943600" cy="2996773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437670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result (hybrid)</a:t>
            </a:r>
            <a:endParaRPr lang="en-US" sz="1100" dirty="0"/>
          </a:p>
        </p:txBody>
      </p:sp>
      <p:sp>
        <p:nvSpPr>
          <p:cNvPr id="6" name="Text 2"/>
          <p:cNvSpPr txBox="1"/>
          <p:nvPr/>
        </p:nvSpPr>
        <p:spPr>
          <a:xfrm>
            <a:off x="5669280" y="4368373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(same input, all three models)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4742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035072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(PDF / DOCX / TXT) or paste resume; paste job or Load Demo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model (default: hybrid) → Analyze: score + category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explanation and evidence; compare all three models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Font typeface="+mj-lt"/>
              <a:buAutoNum type="arabicPeriod" startAt="1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pages: results, ablation, limitations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669280" y="47424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and privacy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669280" y="5035072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/api/match, /api/compare, /api/research/*; BGE loaded once</a:t>
            </a:r>
            <a:endParaRPr lang="en-US" sz="12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Uploads kept in memory, never stored; no resume text in logs</a:t>
            </a:r>
            <a:endParaRPr lang="en-US" sz="1200" dirty="0"/>
          </a:p>
          <a:p>
            <a:pPr marL="228600" indent="-2286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scores, not probabilities; categories from validation thresholds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 captured from the running application (React + TypeScript frontend, FastAPI backend) on the synthetic demo resume and job description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Conclusion, limitations and 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E8F4EC"/>
          </a:solidFill>
          <a:ln w="9525">
            <a:solidFill>
              <a:srgbClr val="E8F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6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evidence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split is leaky (476/477); grouped splits fix it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 &gt; TF-IDF on ranking; both &gt; random ordering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ranks better than BGE in 5/5 repeated splits: +0.0104 NDCG@10, CI [+0.0017, +0.0194]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are faithful to the model's features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72200" y="1325880"/>
            <a:ext cx="5440680" cy="2606040"/>
          </a:xfrm>
          <a:prstGeom prst="roundRect">
            <a:avLst>
              <a:gd name="adj" fmla="val 2807"/>
            </a:avLst>
          </a:prstGeom>
          <a:solidFill>
            <a:srgbClr val="FDECEA"/>
          </a:solidFill>
          <a:ln w="9525">
            <a:solidFill>
              <a:srgbClr val="FDECE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established / limitations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874520"/>
            <a:ext cx="50292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is small; did not appear on the original validation split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not improved: BGE has the best mean macro F1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Required-skill coverage alone does not improve ranking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643 resumes / 351 jobs; labelling undocumented</a:t>
            </a:r>
            <a:endParaRPr lang="en-US" sz="14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extraction errors; experience years approximate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062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to the research question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5720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ranking: yes — consistently but modestly. For classification: no. The main added value is requirement-aware, evidence-based explanation.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</a:t>
            </a:r>
            <a:pPr indent="0" marL="0">
              <a:buNone/>
            </a:pPr>
            <a:r>
              <a:rPr lang="en-US" sz="1300" dirty="0">
                <a:solidFill>
                  <a:srgbClr val="5B5F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weights on the unused train split · more datasets and annotators · cross-encoder re-ranking · better extraction (alternatives such as “X or Y”)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Viva: key points to explain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row-level split leaks here, and how resume grouping fixes 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97680" y="13258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490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vs BGE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19202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overlap vs semantic embeddings; cosine similarity of both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13258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75320" y="14904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score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275320" y="19202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average of available components; why missing ≠ zero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749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/ MRR / MAP rank candidates per job; macro F1 is a separate objective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297680" y="31546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selection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3749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Weights, scaling and thresholds from validation; test scored once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046720" y="315468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3F4F7"/>
          </a:solidFill>
          <a:ln w="9525">
            <a:solidFill>
              <a:srgbClr val="F3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75320" y="33192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B3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37490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grouped splits, job-level bootstrap CI; small but consistent gain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2B3A67"/>
          </a:solidFill>
          <a:ln w="9525">
            <a:solidFill>
              <a:srgbClr val="2B3A6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1663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Takeaway: explicit, requirement-aware features add a small but consistent ranking gain over semantic matching — and make every score explainable.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5F6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ume Matching Research">
  <a:themeElements>
    <a:clrScheme name="Resume Matching Research">
      <a:dk1>
        <a:srgbClr val="1F2433"/>
      </a:dk1>
      <a:lt1>
        <a:srgbClr val="FFFFFF"/>
      </a:lt1>
      <a:dk2>
        <a:srgbClr val="2B3A67"/>
      </a:dk2>
      <a:lt2>
        <a:srgbClr val="F3F4F7"/>
      </a:lt2>
      <a:accent1>
        <a:srgbClr val="2B3A67"/>
      </a:accent1>
      <a:accent2>
        <a:srgbClr val="2A78D6"/>
      </a:accent2>
      <a:accent3>
        <a:srgbClr val="EB6834"/>
      </a:accent3>
      <a:accent4>
        <a:srgbClr val="1BAF7A"/>
      </a:accent4>
      <a:accent5>
        <a:srgbClr val="898781"/>
      </a:accent5>
      <a:accent6>
        <a:srgbClr val="B42318"/>
      </a:accent6>
      <a:hlink>
        <a:srgbClr val="2A78D6"/>
      </a:hlink>
      <a:folHlink>
        <a:srgbClr val="6B6A65"/>
      </a:folHlink>
    </a:clrScheme>
    <a:fontScheme name="Resume Matching Research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Explainable AI-Based Resume–Job Matching</dc:title>
  <dc:subject>PptxGenJS Presentation</dc:subject>
  <dc:creator>AI Lab project</dc:creator>
  <cp:lastModifiedBy>AI Lab project</cp:lastModifiedBy>
  <cp:revision>1</cp:revision>
  <dcterms:created xsi:type="dcterms:W3CDTF">2026-10-06T07:20:51Z</dcterms:created>
  <dcterms:modified xsi:type="dcterms:W3CDTF">2026-10-06T07:20:51Z</dcterms:modified>
</cp:coreProperties>
</file>